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819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5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23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88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93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9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73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26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811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23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169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32057F-F015-B1B2-4E3E-2307F8EFC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E09141C-8E7C-460B-AFE3-7D54E6F3A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>
            <a:normAutofit/>
          </a:bodyPr>
          <a:lstStyle/>
          <a:p>
            <a:pPr algn="l"/>
            <a:r>
              <a:rPr lang="es-ES" sz="5400" dirty="0"/>
              <a:t>RISC Y CISC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E35BF8-7773-6C78-4B5F-85E306A111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7"/>
            <a:ext cx="4206240" cy="1184584"/>
          </a:xfrm>
        </p:spPr>
        <p:txBody>
          <a:bodyPr>
            <a:normAutofit/>
          </a:bodyPr>
          <a:lstStyle/>
          <a:p>
            <a:pPr algn="l"/>
            <a:r>
              <a:rPr lang="es-ES" dirty="0"/>
              <a:t>Hecho por: Jaime López de Lerena</a:t>
            </a:r>
          </a:p>
        </p:txBody>
      </p:sp>
      <p:pic>
        <p:nvPicPr>
          <p:cNvPr id="4" name="Picture 3" descr="Mezcla de pintura azul y rosa">
            <a:extLst>
              <a:ext uri="{FF2B5EF4-FFF2-40B4-BE49-F238E27FC236}">
                <a16:creationId xmlns:a16="http://schemas.microsoft.com/office/drawing/2014/main" id="{35BF0F2D-7505-A546-EE71-1C910EC899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50" r="26948" b="-2"/>
          <a:stretch>
            <a:fillRect/>
          </a:stretch>
        </p:blipFill>
        <p:spPr>
          <a:xfrm>
            <a:off x="20" y="1"/>
            <a:ext cx="65755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467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777013-0E46-765C-BA5C-1FC233362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la arquitectura CISC?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A6D0A6-ADDF-BF46-4961-F51D92281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15532"/>
            <a:ext cx="7026403" cy="4593828"/>
          </a:xfrm>
        </p:spPr>
        <p:txBody>
          <a:bodyPr>
            <a:normAutofit fontScale="92500"/>
          </a:bodyPr>
          <a:lstStyle/>
          <a:p>
            <a:r>
              <a:rPr lang="es-ES" dirty="0"/>
              <a:t>La arquitectura </a:t>
            </a:r>
            <a:r>
              <a:rPr lang="es-ES" b="1" dirty="0"/>
              <a:t>CISC</a:t>
            </a:r>
            <a:r>
              <a:rPr lang="es-ES" dirty="0"/>
              <a:t> (</a:t>
            </a:r>
            <a:r>
              <a:rPr lang="es-ES" dirty="0" err="1"/>
              <a:t>Complex</a:t>
            </a:r>
            <a:r>
              <a:rPr lang="es-ES" dirty="0"/>
              <a:t> </a:t>
            </a:r>
            <a:r>
              <a:rPr lang="es-ES" dirty="0" err="1"/>
              <a:t>Instruction</a:t>
            </a:r>
            <a:r>
              <a:rPr lang="es-ES" dirty="0"/>
              <a:t> Set </a:t>
            </a:r>
            <a:r>
              <a:rPr lang="es-ES" dirty="0" err="1"/>
              <a:t>Computer</a:t>
            </a:r>
            <a:r>
              <a:rPr lang="es-ES" dirty="0"/>
              <a:t>) se basa en el uso de un conjunto de instrucciones </a:t>
            </a:r>
            <a:r>
              <a:rPr lang="es-ES" b="1" dirty="0"/>
              <a:t>muy amplio y complejo</a:t>
            </a:r>
            <a:r>
              <a:rPr lang="es-ES" dirty="0"/>
              <a:t>. Cada instrucción puede realizar varias operaciones a la vez, como acceder a memoria, realizar cálculos y guardar resultados.</a:t>
            </a:r>
            <a:br>
              <a:rPr lang="es-ES" dirty="0"/>
            </a:br>
            <a:r>
              <a:rPr lang="es-ES" dirty="0"/>
              <a:t>Este tipo de arquitectura busca </a:t>
            </a:r>
            <a:r>
              <a:rPr lang="es-ES" b="1" dirty="0"/>
              <a:t>simplificar la programación</a:t>
            </a:r>
            <a:r>
              <a:rPr lang="es-ES" dirty="0"/>
              <a:t> del procesador, ya que cada instrucción puede hacer mucho trabajo. Sin embargo, esto hace que el hardware sea más </a:t>
            </a:r>
            <a:r>
              <a:rPr lang="es-ES" b="1" dirty="0"/>
              <a:t>complicado</a:t>
            </a:r>
            <a:r>
              <a:rPr lang="es-ES" dirty="0"/>
              <a:t> y que la ejecución sea </a:t>
            </a:r>
            <a:r>
              <a:rPr lang="es-ES" b="1" dirty="0"/>
              <a:t>más lenta</a:t>
            </a:r>
            <a:r>
              <a:rPr lang="es-ES" dirty="0"/>
              <a:t> en algunos casos, porque las instrucciones tienen diferentes longitudes y tiempos de ejecución.</a:t>
            </a:r>
            <a:br>
              <a:rPr lang="es-ES" dirty="0"/>
            </a:br>
            <a:r>
              <a:rPr lang="es-ES" dirty="0"/>
              <a:t>Un ejemplo típico de arquitectura CISC es la </a:t>
            </a:r>
            <a:r>
              <a:rPr lang="es-ES" b="1" dirty="0"/>
              <a:t>familia Intel x86</a:t>
            </a:r>
            <a:r>
              <a:rPr lang="es-ES" dirty="0"/>
              <a:t>, usada en la mayoría de los ordenadores personales.</a:t>
            </a:r>
          </a:p>
        </p:txBody>
      </p:sp>
    </p:spTree>
    <p:extLst>
      <p:ext uri="{BB962C8B-B14F-4D97-AF65-F5344CB8AC3E}">
        <p14:creationId xmlns:p14="http://schemas.microsoft.com/office/powerpoint/2010/main" val="124909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CF477-8CB1-3115-A44E-61EFFA13A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¿Qué es la arquitectura RISC?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298C4B-388B-0DD0-63DA-75326F8E4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2"/>
            <a:ext cx="6988302" cy="4593828"/>
          </a:xfrm>
        </p:spPr>
        <p:txBody>
          <a:bodyPr>
            <a:normAutofit lnSpcReduction="10000"/>
          </a:bodyPr>
          <a:lstStyle/>
          <a:p>
            <a:r>
              <a:rPr lang="es-ES" dirty="0"/>
              <a:t>La arquitectura </a:t>
            </a:r>
            <a:r>
              <a:rPr lang="es-ES" b="1" dirty="0"/>
              <a:t>RISC</a:t>
            </a:r>
            <a:r>
              <a:rPr lang="es-ES" dirty="0"/>
              <a:t> (</a:t>
            </a:r>
            <a:r>
              <a:rPr lang="es-ES" dirty="0" err="1"/>
              <a:t>Reduced</a:t>
            </a:r>
            <a:r>
              <a:rPr lang="es-ES" dirty="0"/>
              <a:t> </a:t>
            </a:r>
            <a:r>
              <a:rPr lang="es-ES" dirty="0" err="1"/>
              <a:t>Instruction</a:t>
            </a:r>
            <a:r>
              <a:rPr lang="es-ES" dirty="0"/>
              <a:t> Set </a:t>
            </a:r>
            <a:r>
              <a:rPr lang="es-ES" dirty="0" err="1"/>
              <a:t>Computer</a:t>
            </a:r>
            <a:r>
              <a:rPr lang="es-ES" dirty="0"/>
              <a:t>) utiliza un conjunto de instrucciones </a:t>
            </a:r>
            <a:r>
              <a:rPr lang="es-ES" b="1" dirty="0"/>
              <a:t>más pequeño y simple</a:t>
            </a:r>
            <a:r>
              <a:rPr lang="es-ES" dirty="0"/>
              <a:t>. Cada instrucción está diseñada para ejecutarse en </a:t>
            </a:r>
            <a:r>
              <a:rPr lang="es-ES" b="1" dirty="0"/>
              <a:t>un solo ciclo de reloj</a:t>
            </a:r>
            <a:r>
              <a:rPr lang="es-ES" dirty="0"/>
              <a:t>, lo que permite un rendimiento más alto y un procesador más eficiente.</a:t>
            </a:r>
            <a:br>
              <a:rPr lang="es-ES" dirty="0"/>
            </a:br>
            <a:r>
              <a:rPr lang="es-ES" dirty="0"/>
              <a:t>El objetivo principal del RISC es que el procesador pueda ejecutar muchas instrucciones sencillas de forma rápida, en lugar de pocas instrucciones complejas.</a:t>
            </a:r>
            <a:br>
              <a:rPr lang="es-ES" dirty="0"/>
            </a:br>
            <a:r>
              <a:rPr lang="es-ES" dirty="0"/>
              <a:t>Algunos ejemplos de procesadores RISC son los </a:t>
            </a:r>
            <a:r>
              <a:rPr lang="es-ES" b="1" dirty="0"/>
              <a:t>ARM</a:t>
            </a:r>
            <a:r>
              <a:rPr lang="es-ES" dirty="0"/>
              <a:t>, muy comunes en teléfonos móviles, y los </a:t>
            </a:r>
            <a:r>
              <a:rPr lang="es-ES" b="1" dirty="0"/>
              <a:t>MIPS</a:t>
            </a:r>
            <a:r>
              <a:rPr lang="es-ES" dirty="0"/>
              <a:t> o </a:t>
            </a:r>
            <a:r>
              <a:rPr lang="es-ES" b="1" dirty="0"/>
              <a:t>SPARC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7502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EDC27-1057-8F13-55BA-56AB39EAC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TABLA COMPARATIVA</a:t>
            </a:r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4A9BE4EB-4C14-9D70-E869-9E24E6A436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2795102"/>
              </p:ext>
            </p:extLst>
          </p:nvPr>
        </p:nvGraphicFramePr>
        <p:xfrm>
          <a:off x="612775" y="2457926"/>
          <a:ext cx="10653714" cy="3108960"/>
        </p:xfrm>
        <a:graphic>
          <a:graphicData uri="http://schemas.openxmlformats.org/drawingml/2006/table">
            <a:tbl>
              <a:tblPr/>
              <a:tblGrid>
                <a:gridCol w="3551238">
                  <a:extLst>
                    <a:ext uri="{9D8B030D-6E8A-4147-A177-3AD203B41FA5}">
                      <a16:colId xmlns:a16="http://schemas.microsoft.com/office/drawing/2014/main" val="791974104"/>
                    </a:ext>
                  </a:extLst>
                </a:gridCol>
                <a:gridCol w="3551238">
                  <a:extLst>
                    <a:ext uri="{9D8B030D-6E8A-4147-A177-3AD203B41FA5}">
                      <a16:colId xmlns:a16="http://schemas.microsoft.com/office/drawing/2014/main" val="1132998425"/>
                    </a:ext>
                  </a:extLst>
                </a:gridCol>
                <a:gridCol w="3551238">
                  <a:extLst>
                    <a:ext uri="{9D8B030D-6E8A-4147-A177-3AD203B41FA5}">
                      <a16:colId xmlns:a16="http://schemas.microsoft.com/office/drawing/2014/main" val="131114894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Característica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RISC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CISC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41263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Significado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 err="1"/>
                        <a:t>Reduced</a:t>
                      </a:r>
                      <a:r>
                        <a:rPr lang="es-ES" sz="1800" dirty="0"/>
                        <a:t> </a:t>
                      </a:r>
                      <a:r>
                        <a:rPr lang="es-ES" sz="1800" dirty="0" err="1"/>
                        <a:t>Instruction</a:t>
                      </a:r>
                      <a:r>
                        <a:rPr lang="es-ES" sz="1800" dirty="0"/>
                        <a:t> Set </a:t>
                      </a:r>
                      <a:r>
                        <a:rPr lang="es-ES" sz="1800" dirty="0" err="1"/>
                        <a:t>Computer</a:t>
                      </a:r>
                      <a:endParaRPr lang="es-E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 err="1"/>
                        <a:t>Complex</a:t>
                      </a:r>
                      <a:r>
                        <a:rPr lang="es-ES" sz="1800" dirty="0"/>
                        <a:t> </a:t>
                      </a:r>
                      <a:r>
                        <a:rPr lang="es-ES" sz="1800" dirty="0" err="1"/>
                        <a:t>Instruction</a:t>
                      </a:r>
                      <a:r>
                        <a:rPr lang="es-ES" sz="1800" dirty="0"/>
                        <a:t> Set </a:t>
                      </a:r>
                      <a:r>
                        <a:rPr lang="es-ES" sz="1800" dirty="0" err="1"/>
                        <a:t>Computer</a:t>
                      </a:r>
                      <a:endParaRPr lang="es-E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39573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 err="1"/>
                        <a:t>Nº</a:t>
                      </a:r>
                      <a:r>
                        <a:rPr lang="es-ES" sz="1800" dirty="0"/>
                        <a:t> de instrucciones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Pocas y simples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Muchas y complejas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1503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Duración de las instrucciones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Un ciclo de reloj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Varios ciclos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9287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Uso de memoria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Más instrucciones, menos acceso a memoria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Menos instrucciones, más acceso a memoria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7488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Complejidad del hardware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Sencillo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Complejo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493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Ejemplo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/>
                        <a:t>ARM, MIPS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800" dirty="0"/>
                        <a:t>Intel x86, AMD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425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364684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301</Words>
  <Application>Microsoft Office PowerPoint</Application>
  <PresentationFormat>Panorámica</PresentationFormat>
  <Paragraphs>28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Neue Haas Grotesk Text Pro</vt:lpstr>
      <vt:lpstr>VanillaVTI</vt:lpstr>
      <vt:lpstr>RISC Y CISC</vt:lpstr>
      <vt:lpstr>¿Qué es la arquitectura CISC?</vt:lpstr>
      <vt:lpstr>¿Qué es la arquitectura RISC?</vt:lpstr>
      <vt:lpstr>TABLA COMPARATIVA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Jaime López de Lerena</dc:creator>
  <cp:lastModifiedBy>Jaime López de Lerena</cp:lastModifiedBy>
  <cp:revision>1</cp:revision>
  <dcterms:created xsi:type="dcterms:W3CDTF">2025-10-30T22:33:37Z</dcterms:created>
  <dcterms:modified xsi:type="dcterms:W3CDTF">2025-10-30T22:38:50Z</dcterms:modified>
</cp:coreProperties>
</file>